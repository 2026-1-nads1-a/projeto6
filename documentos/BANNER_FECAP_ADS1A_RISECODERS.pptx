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0LwL4/Ijb9NcAofLJm6qrfdBR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7.jpg"/><Relationship Id="rId13" Type="http://schemas.openxmlformats.org/officeDocument/2006/relationships/image" Target="../media/image10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5" Type="http://schemas.openxmlformats.org/officeDocument/2006/relationships/image" Target="../media/image9.png"/><Relationship Id="rId14" Type="http://schemas.openxmlformats.org/officeDocument/2006/relationships/image" Target="../media/image4.png"/><Relationship Id="rId17" Type="http://schemas.openxmlformats.org/officeDocument/2006/relationships/image" Target="../media/image13.png"/><Relationship Id="rId16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visualstudio.microsoft.com/pt-br/" TargetMode="External"/><Relationship Id="rId18" Type="http://schemas.openxmlformats.org/officeDocument/2006/relationships/image" Target="../media/image2.png"/><Relationship Id="rId7" Type="http://schemas.openxmlformats.org/officeDocument/2006/relationships/hyperlink" Target="https://www.virtualbox.org/" TargetMode="External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3923920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solidFill>
              <a:srgbClr val="10E68E"/>
            </a:solidFill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953013" y="29965100"/>
            <a:ext cx="13848535" cy="8253125"/>
            <a:chOff x="0" y="-47625"/>
            <a:chExt cx="1302166" cy="868357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5403300" y="30470825"/>
            <a:ext cx="12527629" cy="7797137"/>
            <a:chOff x="0" y="-314070"/>
            <a:chExt cx="8764870" cy="5688020"/>
          </a:xfrm>
        </p:grpSpPr>
        <p:grpSp>
          <p:nvGrpSpPr>
            <p:cNvPr id="107" name="Google Shape;107;p1"/>
            <p:cNvGrpSpPr/>
            <p:nvPr/>
          </p:nvGrpSpPr>
          <p:grpSpPr>
            <a:xfrm>
              <a:off x="0" y="-314070"/>
              <a:ext cx="8764870" cy="5688020"/>
              <a:chOff x="0" y="-47624"/>
              <a:chExt cx="1329056" cy="862500"/>
            </a:xfrm>
          </p:grpSpPr>
          <p:sp>
            <p:nvSpPr>
              <p:cNvPr id="108" name="Google Shape;108;p1"/>
              <p:cNvSpPr/>
              <p:nvPr/>
            </p:nvSpPr>
            <p:spPr>
              <a:xfrm>
                <a:off x="0" y="-47624"/>
                <a:ext cx="1329056" cy="861301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 txBox="1"/>
              <p:nvPr/>
            </p:nvSpPr>
            <p:spPr>
              <a:xfrm>
                <a:off x="0" y="-47624"/>
                <a:ext cx="1329000" cy="8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" name="Google Shape;110;p1"/>
            <p:cNvSpPr txBox="1"/>
            <p:nvPr/>
          </p:nvSpPr>
          <p:spPr>
            <a:xfrm>
              <a:off x="996576" y="-137397"/>
              <a:ext cx="6635700" cy="5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 rot="-5400000">
            <a:off x="2494602" y="7477172"/>
            <a:ext cx="10206808" cy="14355435"/>
            <a:chOff x="0" y="-47625"/>
            <a:chExt cx="958980" cy="1348764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"/>
          <p:cNvSpPr txBox="1"/>
          <p:nvPr/>
        </p:nvSpPr>
        <p:spPr>
          <a:xfrm>
            <a:off x="-6676" y="40470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</a:t>
            </a: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Lumina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557675" y="6355575"/>
            <a:ext cx="282426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Anna Paula Silva, Dilly Silva, Laura Rayssa Araújo, Matheus Melo e Rafaela Mello.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Aimar Lopes,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Eduardo Gomes,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Lucy Tabuti, Renata Nascimento e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Ronaldo Pinto.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2561448" y="30828367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TECNOLOGIAS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5633575" y="31561275"/>
            <a:ext cx="12297300" cy="13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GOMES. Eduardo. Redes de Computadores. Aula ministrada no curso de Análise e Desenvolvimento de Sistemas. Fundação Escola de Comércio Álvares Penteado. São Paulo, 2026.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r>
              <a:rPr b="1"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 do Visual Studio, Editor de Código, Azure DevOps e App Center - Visual Studio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Disponível em: &lt;</a:t>
            </a:r>
            <a:r>
              <a:rPr lang="en-US" sz="2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https://visualstudio.microsoft.com/pt-br/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&gt;.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LOPES, Aimar. Modelagem de Software e Arquitetura de Sistemas</a:t>
            </a:r>
            <a:r>
              <a:rPr lang="en-US" sz="100">
                <a:solidFill>
                  <a:schemeClr val="dk1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Aula ministrada no curso de Análise e Desenvolvimento de Sistemas. Fundação Escola de Comércio Álvares Penteado. São Paulo, 2026. 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VM VirtualBox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Disponível em: </a:t>
            </a: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2200" u="sng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https://www.virtualbox.org/</a:t>
            </a: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PINTO. Ronaldo. Fundamentos de Banco de Dados.</a:t>
            </a:r>
            <a:r>
              <a:rPr lang="en-US" sz="500">
                <a:solidFill>
                  <a:schemeClr val="dk1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Aula ministrada no curso de Análise e Desenvolvimento de Sistemas. Fundação Escola de Comércio Álvares Penteado. São Paulo, 2026.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1766662" y="37158284"/>
            <a:ext cx="2877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Prototipação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45557" y="11687709"/>
            <a:ext cx="12562800" cy="6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Muitas instituições de ensino enfrentam dificuldades na gestão de assinaturas de plataformas educacionais digitais, tornando o controle dos acessos menos seguro e eficiente.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Falta de controle eficiente dos acessos;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Possível desperdício de recursos;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Ausência de validação por IP;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Falta de relatórios organizados;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Dificuldade no monitoramento do uso das plataformas.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Necessidade de um sistema mais seguro, organizado e eficiente.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645554" y="21393009"/>
            <a:ext cx="12562800" cy="8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Lumina Learning propôs como solução o desenvolvimento de um aplicativo desktop capaz de gerenciar assinaturas de jogos educacionais de forma eficiente e segura.  A solução permite: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controle de pacotes por escola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validação de acesso por IP autorizado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monitoramento de acessos mensais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visualização de um catálogo de jogos.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busca otimizar o uso das plataformas educacionais, promovendo organização, segurança e melhor aproveitamento dos recursos.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" title="6132221.png"/>
          <p:cNvPicPr preferRelativeResize="0"/>
          <p:nvPr/>
        </p:nvPicPr>
        <p:blipFill rotWithShape="1">
          <a:blip r:embed="rId8">
            <a:alphaModFix/>
          </a:blip>
          <a:srcRect b="3390" l="0" r="0" t="-3390"/>
          <a:stretch/>
        </p:blipFill>
        <p:spPr>
          <a:xfrm>
            <a:off x="12119832" y="31667523"/>
            <a:ext cx="2171250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 title="image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20750" y="31938583"/>
            <a:ext cx="2171275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 title="github-logo-git-hub-icon-with-text-on-white-and-black-background-free-vector.jpg"/>
          <p:cNvPicPr preferRelativeResize="0"/>
          <p:nvPr/>
        </p:nvPicPr>
        <p:blipFill rotWithShape="1">
          <a:blip r:embed="rId10">
            <a:alphaModFix/>
          </a:blip>
          <a:srcRect b="7222" l="7610" r="58080" t="7816"/>
          <a:stretch/>
        </p:blipFill>
        <p:spPr>
          <a:xfrm>
            <a:off x="1664850" y="34916756"/>
            <a:ext cx="2171251" cy="23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title="Canva-icon.png"/>
          <p:cNvPicPr preferRelativeResize="0"/>
          <p:nvPr/>
        </p:nvPicPr>
        <p:blipFill rotWithShape="1">
          <a:blip r:embed="rId11">
            <a:alphaModFix/>
          </a:blip>
          <a:srcRect b="0" l="18995" r="19254" t="0"/>
          <a:stretch/>
        </p:blipFill>
        <p:spPr>
          <a:xfrm>
            <a:off x="12156800" y="34997734"/>
            <a:ext cx="2097300" cy="225554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/>
          <p:nvPr/>
        </p:nvSpPr>
        <p:spPr>
          <a:xfrm rot="-5400000">
            <a:off x="11395852" y="13433808"/>
            <a:ext cx="20347015" cy="12526169"/>
          </a:xfrm>
          <a:custGeom>
            <a:rect b="b" l="l" r="r" t="t"/>
            <a:pathLst>
              <a:path extrusionOk="0" h="1176995" w="1922704">
                <a:moveTo>
                  <a:pt x="0" y="0"/>
                </a:moveTo>
                <a:lnTo>
                  <a:pt x="1922704" y="0"/>
                </a:lnTo>
                <a:lnTo>
                  <a:pt x="1922704" y="1176995"/>
                </a:lnTo>
                <a:lnTo>
                  <a:pt x="0" y="1176995"/>
                </a:ln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"/>
          <p:cNvGrpSpPr/>
          <p:nvPr/>
        </p:nvGrpSpPr>
        <p:grpSpPr>
          <a:xfrm>
            <a:off x="18110251" y="17894842"/>
            <a:ext cx="9497169" cy="5257412"/>
            <a:chOff x="18204936" y="24516578"/>
            <a:chExt cx="9497169" cy="5257412"/>
          </a:xfrm>
        </p:grpSpPr>
        <p:pic>
          <p:nvPicPr>
            <p:cNvPr id="137" name="Google Shape;137;p1" title="Lumina Learning (5).png"/>
            <p:cNvPicPr preferRelativeResize="0"/>
            <p:nvPr/>
          </p:nvPicPr>
          <p:blipFill rotWithShape="1">
            <a:blip r:embed="rId12">
              <a:alphaModFix/>
            </a:blip>
            <a:srcRect b="3865" l="606" r="0" t="0"/>
            <a:stretch/>
          </p:blipFill>
          <p:spPr>
            <a:xfrm>
              <a:off x="18221080" y="24516578"/>
              <a:ext cx="9481025" cy="2577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" title="Lumina Learning (4).png"/>
            <p:cNvPicPr preferRelativeResize="0"/>
            <p:nvPr/>
          </p:nvPicPr>
          <p:blipFill rotWithShape="1">
            <a:blip r:embed="rId13">
              <a:alphaModFix/>
            </a:blip>
            <a:srcRect b="5060" l="953" r="815" t="0"/>
            <a:stretch/>
          </p:blipFill>
          <p:spPr>
            <a:xfrm>
              <a:off x="18204936" y="27175891"/>
              <a:ext cx="9481024" cy="259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"/>
          <p:cNvSpPr txBox="1"/>
          <p:nvPr/>
        </p:nvSpPr>
        <p:spPr>
          <a:xfrm>
            <a:off x="15617216" y="10715140"/>
            <a:ext cx="11904300" cy="6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desenvolvido oferece diversos benefícios para as escolas, tornando a gestão mais prática, segura e eficiente. Entre os principais resultados alcançados, destacam-se: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Controle completo das assinaturas por escola;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Maior segurança com autenticação, validação de IP e registro de acessos;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Bloqueio automático ao atingir o limite mensal;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Geração de relatórios de consumo;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-4464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30"/>
              <a:buFont typeface="Open Sans"/>
              <a:buChar char="●"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Gestão mais prática, eficiente e acessível.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6476118" y="9786959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"/>
          <p:cNvGrpSpPr/>
          <p:nvPr/>
        </p:nvGrpSpPr>
        <p:grpSpPr>
          <a:xfrm>
            <a:off x="15525295" y="17894788"/>
            <a:ext cx="2659160" cy="5257500"/>
            <a:chOff x="15749400" y="24516575"/>
            <a:chExt cx="2659160" cy="5257500"/>
          </a:xfrm>
        </p:grpSpPr>
        <p:sp>
          <p:nvSpPr>
            <p:cNvPr id="142" name="Google Shape;142;p1"/>
            <p:cNvSpPr/>
            <p:nvPr/>
          </p:nvSpPr>
          <p:spPr>
            <a:xfrm>
              <a:off x="15749400" y="24516575"/>
              <a:ext cx="2387400" cy="5257500"/>
            </a:xfrm>
            <a:prstGeom prst="rect">
              <a:avLst/>
            </a:prstGeom>
            <a:solidFill>
              <a:srgbClr val="9CF4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3" name="Google Shape;143;p1" title="3818265-removebg-preview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 flipH="1" rot="1965864">
              <a:off x="17153174" y="28448638"/>
              <a:ext cx="1054028" cy="1054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" title="Lumina_Learning__7_-removebg-preview.png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15945665" y="25409425"/>
              <a:ext cx="1894024" cy="317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" title="3818265-removebg-preview.png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 rot="10051157">
              <a:off x="17153174" y="24659313"/>
              <a:ext cx="1054028" cy="10540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6" name="Google Shape;146;p1" title="free-sqlite-icon-svg-download-png-282687.png"/>
          <p:cNvPicPr preferRelativeResize="0"/>
          <p:nvPr/>
        </p:nvPicPr>
        <p:blipFill rotWithShape="1">
          <a:blip r:embed="rId16">
            <a:alphaModFix/>
          </a:blip>
          <a:srcRect b="20025" l="0" r="0" t="20323"/>
          <a:stretch/>
        </p:blipFill>
        <p:spPr>
          <a:xfrm>
            <a:off x="5412200" y="33133187"/>
            <a:ext cx="2877525" cy="171651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/>
          <p:nvPr/>
        </p:nvSpPr>
        <p:spPr>
          <a:xfrm>
            <a:off x="15543275" y="17063800"/>
            <a:ext cx="12064200" cy="732900"/>
          </a:xfrm>
          <a:prstGeom prst="rect">
            <a:avLst/>
          </a:prstGeom>
          <a:solidFill>
            <a:srgbClr val="0B9E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9472225" y="17143963"/>
            <a:ext cx="3934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Fluxo do Sistema </a:t>
            </a:r>
            <a:endParaRPr b="1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1" title="Cadastro Empresa.png"/>
          <p:cNvPicPr preferRelativeResize="0"/>
          <p:nvPr/>
        </p:nvPicPr>
        <p:blipFill rotWithShape="1">
          <a:blip r:embed="rId17">
            <a:alphaModFix/>
          </a:blip>
          <a:srcRect b="28130" l="833" r="3446" t="0"/>
          <a:stretch/>
        </p:blipFill>
        <p:spPr>
          <a:xfrm>
            <a:off x="15537275" y="24198469"/>
            <a:ext cx="12064201" cy="549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/>
          <p:nvPr/>
        </p:nvSpPr>
        <p:spPr>
          <a:xfrm>
            <a:off x="15537263" y="23325889"/>
            <a:ext cx="12064200" cy="732900"/>
          </a:xfrm>
          <a:prstGeom prst="rect">
            <a:avLst/>
          </a:prstGeom>
          <a:solidFill>
            <a:srgbClr val="0B9E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18342275" y="23406050"/>
            <a:ext cx="63369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Protótipo Telas do Sistema</a:t>
            </a:r>
            <a:endParaRPr b="1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1311670" y="37276761"/>
            <a:ext cx="28776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Publicação  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"/>
          <p:cNvPicPr preferRelativeResize="0"/>
          <p:nvPr/>
        </p:nvPicPr>
        <p:blipFill rotWithShape="1">
          <a:blip r:embed="rId18">
            <a:alphaModFix/>
          </a:blip>
          <a:srcRect b="18543" l="56860" r="15617" t="26982"/>
          <a:stretch/>
        </p:blipFill>
        <p:spPr>
          <a:xfrm>
            <a:off x="8446413" y="32581888"/>
            <a:ext cx="2097300" cy="23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"/>
          <p:cNvSpPr txBox="1"/>
          <p:nvPr/>
        </p:nvSpPr>
        <p:spPr>
          <a:xfrm>
            <a:off x="1587126" y="34218025"/>
            <a:ext cx="24306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Codificação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6211257" y="36110438"/>
            <a:ext cx="33492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Banco de dados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11426530" y="33967959"/>
            <a:ext cx="33492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Linguagem de codificação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"/>
          <p:cNvCxnSpPr/>
          <p:nvPr/>
        </p:nvCxnSpPr>
        <p:spPr>
          <a:xfrm>
            <a:off x="6892625" y="34567100"/>
            <a:ext cx="34800" cy="346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"/>
          <p:cNvCxnSpPr/>
          <p:nvPr/>
        </p:nvCxnSpPr>
        <p:spPr>
          <a:xfrm rot="10800000">
            <a:off x="6890000" y="35207465"/>
            <a:ext cx="1991700" cy="34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"/>
          <p:cNvCxnSpPr/>
          <p:nvPr/>
        </p:nvCxnSpPr>
        <p:spPr>
          <a:xfrm flipH="1">
            <a:off x="8901589" y="34598273"/>
            <a:ext cx="13800" cy="33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"/>
          <p:cNvCxnSpPr/>
          <p:nvPr/>
        </p:nvCxnSpPr>
        <p:spPr>
          <a:xfrm>
            <a:off x="7887157" y="35247576"/>
            <a:ext cx="15000" cy="701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