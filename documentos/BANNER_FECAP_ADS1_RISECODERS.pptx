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Open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iUUeZ6R2E7i4PPMhMDtYqq43bX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penSans-regular.fntdata"/><Relationship Id="rId8" Type="http://schemas.openxmlformats.org/officeDocument/2006/relationships/font" Target="fonts/Open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jpg"/><Relationship Id="rId10" Type="http://schemas.openxmlformats.org/officeDocument/2006/relationships/image" Target="../media/image11.png"/><Relationship Id="rId13" Type="http://schemas.openxmlformats.org/officeDocument/2006/relationships/image" Target="../media/image10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5" Type="http://schemas.openxmlformats.org/officeDocument/2006/relationships/image" Target="../media/image1.png"/><Relationship Id="rId14" Type="http://schemas.openxmlformats.org/officeDocument/2006/relationships/image" Target="../media/image9.png"/><Relationship Id="rId17" Type="http://schemas.openxmlformats.org/officeDocument/2006/relationships/image" Target="../media/image4.png"/><Relationship Id="rId16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hyperlink" Target="https://visualstudio.microsoft.com/pt-br/" TargetMode="External"/><Relationship Id="rId18" Type="http://schemas.openxmlformats.org/officeDocument/2006/relationships/image" Target="../media/image13.png"/><Relationship Id="rId7" Type="http://schemas.openxmlformats.org/officeDocument/2006/relationships/hyperlink" Target="https://www.virtualbox.org/" TargetMode="External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3923920"/>
            <a:ext cx="22761119" cy="14305961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751" cy="9460534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solidFill>
              <a:srgbClr val="10E68E"/>
            </a:solidFill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>
            <a:off x="953013" y="29965100"/>
            <a:ext cx="13848535" cy="8253125"/>
            <a:chOff x="0" y="-47625"/>
            <a:chExt cx="1302166" cy="868357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15403300" y="30470825"/>
            <a:ext cx="12527629" cy="7797137"/>
            <a:chOff x="0" y="-314070"/>
            <a:chExt cx="8764870" cy="5688020"/>
          </a:xfrm>
        </p:grpSpPr>
        <p:grpSp>
          <p:nvGrpSpPr>
            <p:cNvPr id="107" name="Google Shape;107;p1"/>
            <p:cNvGrpSpPr/>
            <p:nvPr/>
          </p:nvGrpSpPr>
          <p:grpSpPr>
            <a:xfrm>
              <a:off x="0" y="-314070"/>
              <a:ext cx="8764870" cy="5688020"/>
              <a:chOff x="0" y="-47624"/>
              <a:chExt cx="1329056" cy="862500"/>
            </a:xfrm>
          </p:grpSpPr>
          <p:sp>
            <p:nvSpPr>
              <p:cNvPr id="108" name="Google Shape;108;p1"/>
              <p:cNvSpPr/>
              <p:nvPr/>
            </p:nvSpPr>
            <p:spPr>
              <a:xfrm>
                <a:off x="0" y="-47624"/>
                <a:ext cx="1329056" cy="861301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 txBox="1"/>
              <p:nvPr/>
            </p:nvSpPr>
            <p:spPr>
              <a:xfrm>
                <a:off x="0" y="-47624"/>
                <a:ext cx="1329000" cy="86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0" name="Google Shape;110;p1"/>
            <p:cNvSpPr txBox="1"/>
            <p:nvPr/>
          </p:nvSpPr>
          <p:spPr>
            <a:xfrm>
              <a:off x="996576" y="-137397"/>
              <a:ext cx="6635700" cy="53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762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1"/>
          <p:cNvSpPr/>
          <p:nvPr/>
        </p:nvSpPr>
        <p:spPr>
          <a:xfrm>
            <a:off x="-916543" y="1525353"/>
            <a:ext cx="8571184" cy="2454222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3163237" y="-4997460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21014306" y="1712017"/>
            <a:ext cx="7228385" cy="2335060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1"/>
          <p:cNvGrpSpPr/>
          <p:nvPr/>
        </p:nvGrpSpPr>
        <p:grpSpPr>
          <a:xfrm rot="-5400000">
            <a:off x="2494602" y="7477172"/>
            <a:ext cx="10206808" cy="14355435"/>
            <a:chOff x="0" y="-47625"/>
            <a:chExt cx="958980" cy="1348764"/>
          </a:xfrm>
        </p:grpSpPr>
        <p:sp>
          <p:nvSpPr>
            <p:cNvPr id="116" name="Google Shape;116;p1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1"/>
          <p:cNvSpPr txBox="1"/>
          <p:nvPr/>
        </p:nvSpPr>
        <p:spPr>
          <a:xfrm>
            <a:off x="-6676" y="4047067"/>
            <a:ext cx="288138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b="1" i="0" lang="en-US" sz="11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PROJETO </a:t>
            </a:r>
            <a:r>
              <a:rPr b="1" lang="en-US" sz="11434">
                <a:latin typeface="Open Sans"/>
                <a:ea typeface="Open Sans"/>
                <a:cs typeface="Open Sans"/>
                <a:sym typeface="Open Sans"/>
              </a:rPr>
              <a:t>Lumina Learning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557675" y="6355575"/>
            <a:ext cx="28242600" cy="1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Anna Paula Silva, Dilly Silva, Laura Rayssa Araújo, Matheus Melo e Rafaela Mello.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Aimar Lopes, </a:t>
            </a:r>
            <a:r>
              <a:rPr lang="en-US" sz="4762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Eduardo Gomes,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Lucy Tabuti, Renata Nascimento e </a:t>
            </a:r>
            <a:r>
              <a:rPr lang="en-US" sz="4762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Ronaldo Pinto.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2561448" y="30828367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TECNOLOGIAS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15633575" y="31561275"/>
            <a:ext cx="12297300" cy="13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GOMES. Eduardo. Redes de Computadores. Aula ministrada no curso de Análise e Desenvolvimento de Sistemas. Fundação Escola de Comércio Álvares Penteado. São Paulo, 2026.</a:t>
            </a:r>
            <a:b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‌</a:t>
            </a:r>
            <a:r>
              <a:rPr b="1"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IDE do Visual Studio, Editor de Código, Azure DevOps e App Center - Visual Studio</a:t>
            </a: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Disponível em: &lt;</a:t>
            </a:r>
            <a:r>
              <a:rPr lang="en-US" sz="2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https://visualstudio.microsoft.com/pt-br/</a:t>
            </a: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&gt;.</a:t>
            </a:r>
            <a:b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LOPES, Aimar. Modelagem de Software e Arquitetura de Sistemas</a:t>
            </a:r>
            <a:r>
              <a:rPr lang="en-US" sz="100">
                <a:solidFill>
                  <a:schemeClr val="dk1"/>
                </a:solidFill>
              </a:rPr>
              <a:t> </a:t>
            </a: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Aula ministrada no curso de Análise e Desenvolvimento de Sistemas. Fundação Escola de Comércio Álvares Penteado. São Paulo, 2026. </a:t>
            </a:r>
            <a:b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ORACLE. </a:t>
            </a:r>
            <a:r>
              <a:rPr b="1"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Oracle VM VirtualBox</a:t>
            </a: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Disponível em: </a:t>
            </a: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&lt;</a:t>
            </a:r>
            <a:r>
              <a:rPr lang="en-US" sz="2200" u="sng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https://www.virtualbox.org/</a:t>
            </a: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&gt;</a:t>
            </a: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b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PINTO. Ronaldo. Fundamentos de Banco de Dados.</a:t>
            </a:r>
            <a:r>
              <a:rPr lang="en-US" sz="500">
                <a:solidFill>
                  <a:schemeClr val="dk1"/>
                </a:solidFill>
              </a:rPr>
              <a:t> </a:t>
            </a: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Aula ministrada no curso de Análise e Desenvolvimento de Sistemas. Fundação Escola de Comércio Álvares Penteado. São Paulo, 2026.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1595875" y="31719850"/>
            <a:ext cx="12562800" cy="3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 desenvolvimento do sistema foi realizado utilizando ferramentas e tecnologias voltadas para aplicações desktop e gerenciamento de dados, garantindo organização, desempenho e eficiência.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645557" y="12064734"/>
            <a:ext cx="12562800" cy="51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Muitas instituições de ensino enfrentam dificuldades na gestão de assinaturas de plataformas educacionais digitais. A ausência de controle eficiente pode gerar uso indevido, desperdício de recursos e falta de monitoramento dos acessos. Além disso, a inexistência de validação por IP e de relatórios claros compromete a segurança e a análise do uso dessas ferramentas.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1645554" y="21393009"/>
            <a:ext cx="12562800" cy="7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 Lumina Learning propôs como solução o desenvolvimento de um aplicativo desktop capaz de gerenciar assinaturas de jogos educacionais de forma eficiente e segura.  A solução permite o controle de pacotes por escola, validação de acesso por IP autorizado, monitoramento de acessos mensais e visualização de um catálogo de jogos. O sistema busca otimizar o uso das plataformas educacionais, promovendo organização, segurança e melhor aproveitamento dos recursos.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 title="613222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94575" y="34675573"/>
            <a:ext cx="2171250" cy="23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" title="image-removebg-preview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16575" y="34632277"/>
            <a:ext cx="2171275" cy="23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" title="VirtualBox_2024_Logo.svg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502649" y="35824674"/>
            <a:ext cx="2171251" cy="1856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" title="github-logo-git-hub-icon-with-text-on-white-and-black-background-free-vector.jpg"/>
          <p:cNvPicPr preferRelativeResize="0"/>
          <p:nvPr/>
        </p:nvPicPr>
        <p:blipFill rotWithShape="1">
          <a:blip r:embed="rId11">
            <a:alphaModFix/>
          </a:blip>
          <a:srcRect b="7222" l="7610" r="58080" t="7816"/>
          <a:stretch/>
        </p:blipFill>
        <p:spPr>
          <a:xfrm>
            <a:off x="8712200" y="34697220"/>
            <a:ext cx="2171251" cy="23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" title="Canva-icon.png"/>
          <p:cNvPicPr preferRelativeResize="0"/>
          <p:nvPr/>
        </p:nvPicPr>
        <p:blipFill rotWithShape="1">
          <a:blip r:embed="rId12">
            <a:alphaModFix/>
          </a:blip>
          <a:srcRect b="0" l="18995" r="19254" t="0"/>
          <a:stretch/>
        </p:blipFill>
        <p:spPr>
          <a:xfrm>
            <a:off x="6093570" y="34783811"/>
            <a:ext cx="2171252" cy="233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"/>
          <p:cNvSpPr/>
          <p:nvPr/>
        </p:nvSpPr>
        <p:spPr>
          <a:xfrm rot="-5400000">
            <a:off x="11395852" y="13433808"/>
            <a:ext cx="20347015" cy="12526169"/>
          </a:xfrm>
          <a:custGeom>
            <a:rect b="b" l="l" r="r" t="t"/>
            <a:pathLst>
              <a:path extrusionOk="0" h="1176995" w="1922704">
                <a:moveTo>
                  <a:pt x="0" y="0"/>
                </a:moveTo>
                <a:lnTo>
                  <a:pt x="1922704" y="0"/>
                </a:lnTo>
                <a:lnTo>
                  <a:pt x="1922704" y="1176995"/>
                </a:lnTo>
                <a:lnTo>
                  <a:pt x="0" y="1176995"/>
                </a:ln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1"/>
          <p:cNvGrpSpPr/>
          <p:nvPr/>
        </p:nvGrpSpPr>
        <p:grpSpPr>
          <a:xfrm>
            <a:off x="18048549" y="18571298"/>
            <a:ext cx="9497169" cy="5257412"/>
            <a:chOff x="18204936" y="24516578"/>
            <a:chExt cx="9497169" cy="5257412"/>
          </a:xfrm>
        </p:grpSpPr>
        <p:pic>
          <p:nvPicPr>
            <p:cNvPr id="138" name="Google Shape;138;p1" title="Lumina Learning (5).png"/>
            <p:cNvPicPr preferRelativeResize="0"/>
            <p:nvPr/>
          </p:nvPicPr>
          <p:blipFill rotWithShape="1">
            <a:blip r:embed="rId13">
              <a:alphaModFix/>
            </a:blip>
            <a:srcRect b="3865" l="606" r="0" t="0"/>
            <a:stretch/>
          </p:blipFill>
          <p:spPr>
            <a:xfrm>
              <a:off x="18221080" y="24516578"/>
              <a:ext cx="9481025" cy="2577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" title="Lumina Learning (4).png"/>
            <p:cNvPicPr preferRelativeResize="0"/>
            <p:nvPr/>
          </p:nvPicPr>
          <p:blipFill rotWithShape="1">
            <a:blip r:embed="rId14">
              <a:alphaModFix/>
            </a:blip>
            <a:srcRect b="5060" l="953" r="815" t="0"/>
            <a:stretch/>
          </p:blipFill>
          <p:spPr>
            <a:xfrm>
              <a:off x="18204936" y="27175891"/>
              <a:ext cx="9481024" cy="2598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" name="Google Shape;140;p1"/>
          <p:cNvSpPr txBox="1"/>
          <p:nvPr/>
        </p:nvSpPr>
        <p:spPr>
          <a:xfrm>
            <a:off x="15617216" y="11941417"/>
            <a:ext cx="11904300" cy="6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 sistema desenvolvido permite o controle completo de assinaturas por escolas, incluindo autenticação, validação de IP e registro de acessos. Foi possível implementar o bloqueio automático ao atingir o limite mensal, além da geração de relatórios de consumo. Como diferencial, o projeto contribui para uma gestão mais eficiente e acessível, promovendo o uso consciente de recursos educacionais e integrando conceitos de programação, banco de dados e redes.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16476118" y="9962420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" name="Google Shape;142;p1"/>
          <p:cNvGrpSpPr/>
          <p:nvPr/>
        </p:nvGrpSpPr>
        <p:grpSpPr>
          <a:xfrm>
            <a:off x="15593013" y="18571295"/>
            <a:ext cx="2659160" cy="5257500"/>
            <a:chOff x="15749400" y="24516575"/>
            <a:chExt cx="2659160" cy="5257500"/>
          </a:xfrm>
        </p:grpSpPr>
        <p:sp>
          <p:nvSpPr>
            <p:cNvPr id="143" name="Google Shape;143;p1"/>
            <p:cNvSpPr/>
            <p:nvPr/>
          </p:nvSpPr>
          <p:spPr>
            <a:xfrm>
              <a:off x="15749400" y="24516575"/>
              <a:ext cx="2387400" cy="5257500"/>
            </a:xfrm>
            <a:prstGeom prst="rect">
              <a:avLst/>
            </a:prstGeom>
            <a:solidFill>
              <a:srgbClr val="9CF4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4" name="Google Shape;144;p1" title="3818265-removebg-preview.png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 flipH="1" rot="1965864">
              <a:off x="17153174" y="28448638"/>
              <a:ext cx="1054028" cy="10540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" title="Lumina_Learning__7_-removebg-preview.png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15945665" y="25409425"/>
              <a:ext cx="1894024" cy="3172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" title="3818265-removebg-preview.png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 rot="10051157">
              <a:off x="17153174" y="24659313"/>
              <a:ext cx="1054028" cy="10540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7" name="Google Shape;147;p1" title="free-sqlite-icon-svg-download-png-282687.png"/>
          <p:cNvPicPr preferRelativeResize="0"/>
          <p:nvPr/>
        </p:nvPicPr>
        <p:blipFill rotWithShape="1">
          <a:blip r:embed="rId17">
            <a:alphaModFix/>
          </a:blip>
          <a:srcRect b="20025" l="0" r="0" t="20323"/>
          <a:stretch/>
        </p:blipFill>
        <p:spPr>
          <a:xfrm>
            <a:off x="11149500" y="33923924"/>
            <a:ext cx="2877525" cy="1716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" title="Cadastro Empresa (1).png"/>
          <p:cNvPicPr preferRelativeResize="0"/>
          <p:nvPr/>
        </p:nvPicPr>
        <p:blipFill rotWithShape="1">
          <a:blip r:embed="rId18">
            <a:alphaModFix/>
          </a:blip>
          <a:srcRect b="8719" l="0" r="0" t="8711"/>
          <a:stretch/>
        </p:blipFill>
        <p:spPr>
          <a:xfrm>
            <a:off x="15617225" y="24138025"/>
            <a:ext cx="11904301" cy="552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